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8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10057982" y="-2172421"/>
            <a:ext cx="12307770" cy="7200900"/>
          </a:xfrm>
          <a:custGeom>
            <a:avLst/>
            <a:gdLst/>
            <a:ahLst/>
            <a:cxnLst/>
            <a:rect l="l" t="t" r="r" b="b"/>
            <a:pathLst>
              <a:path w="12307770" h="7200900">
                <a:moveTo>
                  <a:pt x="0" y="0"/>
                </a:moveTo>
                <a:lnTo>
                  <a:pt x="12307769" y="0"/>
                </a:lnTo>
                <a:lnTo>
                  <a:pt x="12307769"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812923" y="349542"/>
            <a:ext cx="3850711" cy="3778510"/>
          </a:xfrm>
          <a:custGeom>
            <a:avLst/>
            <a:gdLst/>
            <a:ahLst/>
            <a:cxnLst/>
            <a:rect l="l" t="t" r="r" b="b"/>
            <a:pathLst>
              <a:path w="3850711" h="3778510">
                <a:moveTo>
                  <a:pt x="0" y="0"/>
                </a:moveTo>
                <a:lnTo>
                  <a:pt x="3850710" y="0"/>
                </a:lnTo>
                <a:lnTo>
                  <a:pt x="3850710" y="3778509"/>
                </a:lnTo>
                <a:lnTo>
                  <a:pt x="0" y="3778509"/>
                </a:lnTo>
                <a:lnTo>
                  <a:pt x="0" y="0"/>
                </a:lnTo>
                <a:close/>
              </a:path>
            </a:pathLst>
          </a:custGeom>
          <a:blipFill>
            <a:blip r:embed="rId6"/>
            <a:stretch>
              <a:fillRect/>
            </a:stretch>
          </a:blipFill>
        </p:spPr>
      </p:sp>
      <p:sp>
        <p:nvSpPr>
          <p:cNvPr id="5" name="TextBox 5"/>
          <p:cNvSpPr txBox="1"/>
          <p:nvPr/>
        </p:nvSpPr>
        <p:spPr>
          <a:xfrm>
            <a:off x="3183546" y="4744690"/>
            <a:ext cx="1192090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Project Title</a:t>
            </a:r>
          </a:p>
        </p:txBody>
      </p:sp>
      <p:sp>
        <p:nvSpPr>
          <p:cNvPr id="6" name="TextBox 6"/>
          <p:cNvSpPr txBox="1"/>
          <p:nvPr/>
        </p:nvSpPr>
        <p:spPr>
          <a:xfrm>
            <a:off x="1028700" y="6648071"/>
            <a:ext cx="16362692" cy="2227892"/>
          </a:xfrm>
          <a:prstGeom prst="rect">
            <a:avLst/>
          </a:prstGeom>
        </p:spPr>
        <p:txBody>
          <a:bodyPr lIns="0" tIns="0" rIns="0" bIns="0" rtlCol="0" anchor="t">
            <a:spAutoFit/>
          </a:bodyPr>
          <a:lstStyle/>
          <a:p>
            <a:pPr algn="ctr">
              <a:lnSpc>
                <a:spcPts val="8901"/>
              </a:lnSpc>
              <a:spcBef>
                <a:spcPct val="0"/>
              </a:spcBef>
            </a:pPr>
            <a:r>
              <a:rPr lang="en-US" sz="6358" b="1">
                <a:solidFill>
                  <a:srgbClr val="000000"/>
                </a:solidFill>
                <a:latin typeface="Canva Sans Bold"/>
                <a:ea typeface="Canva Sans Bold"/>
                <a:cs typeface="Canva Sans Bold"/>
                <a:sym typeface="Canva Sans Bold"/>
              </a:rPr>
              <a:t>GhostNet: LLM-Driven Legacy Twin Using </a:t>
            </a:r>
          </a:p>
          <a:p>
            <a:pPr algn="ctr">
              <a:lnSpc>
                <a:spcPts val="8901"/>
              </a:lnSpc>
              <a:spcBef>
                <a:spcPct val="0"/>
              </a:spcBef>
            </a:pPr>
            <a:r>
              <a:rPr lang="en-US" sz="6358" b="1">
                <a:solidFill>
                  <a:srgbClr val="000000"/>
                </a:solidFill>
                <a:latin typeface="Canva Sans Bold"/>
                <a:ea typeface="Canva Sans Bold"/>
                <a:cs typeface="Canva Sans Bold"/>
                <a:sym typeface="Canva Sans Bold"/>
              </a:rPr>
              <a:t>Multi-Modal Personal Data Embedding</a:t>
            </a:r>
          </a:p>
        </p:txBody>
      </p:sp>
      <p:sp>
        <p:nvSpPr>
          <p:cNvPr id="7" name="Freeform 7"/>
          <p:cNvSpPr/>
          <p:nvPr/>
        </p:nvSpPr>
        <p:spPr>
          <a:xfrm>
            <a:off x="-377871" y="-5141964"/>
            <a:ext cx="9587917" cy="9587917"/>
          </a:xfrm>
          <a:custGeom>
            <a:avLst/>
            <a:gdLst/>
            <a:ahLst/>
            <a:cxnLst/>
            <a:rect l="l" t="t" r="r" b="b"/>
            <a:pathLst>
              <a:path w="9587917" h="9587917">
                <a:moveTo>
                  <a:pt x="0" y="0"/>
                </a:moveTo>
                <a:lnTo>
                  <a:pt x="9587917" y="0"/>
                </a:lnTo>
                <a:lnTo>
                  <a:pt x="9587917" y="9587917"/>
                </a:lnTo>
                <a:lnTo>
                  <a:pt x="0" y="9587917"/>
                </a:lnTo>
                <a:lnTo>
                  <a:pt x="0" y="0"/>
                </a:lnTo>
                <a:close/>
              </a:path>
            </a:pathLst>
          </a:custGeom>
          <a:blipFill>
            <a:blip r:embed="rId7">
              <a:alphaModFix amt="0"/>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708985" y="-2933007"/>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308377" y="1304256"/>
            <a:ext cx="7835623" cy="1320775"/>
          </a:xfrm>
          <a:prstGeom prst="rect">
            <a:avLst/>
          </a:prstGeom>
        </p:spPr>
        <p:txBody>
          <a:bodyPr lIns="0" tIns="0" rIns="0" bIns="0" rtlCol="0" anchor="t">
            <a:spAutoFit/>
          </a:bodyPr>
          <a:lstStyle/>
          <a:p>
            <a:pPr algn="ctr">
              <a:lnSpc>
                <a:spcPts val="10874"/>
              </a:lnSpc>
            </a:pPr>
            <a:r>
              <a:rPr lang="en-US" sz="7767" b="1">
                <a:solidFill>
                  <a:srgbClr val="000000"/>
                </a:solidFill>
                <a:latin typeface="Canva Sans Bold"/>
                <a:ea typeface="Canva Sans Bold"/>
                <a:cs typeface="Canva Sans Bold"/>
                <a:sym typeface="Canva Sans Bold"/>
              </a:rPr>
              <a:t>Team Members: </a:t>
            </a:r>
          </a:p>
        </p:txBody>
      </p:sp>
      <p:sp>
        <p:nvSpPr>
          <p:cNvPr id="5" name="TextBox 5"/>
          <p:cNvSpPr txBox="1"/>
          <p:nvPr/>
        </p:nvSpPr>
        <p:spPr>
          <a:xfrm>
            <a:off x="10648605" y="1391930"/>
            <a:ext cx="6185297" cy="1326642"/>
          </a:xfrm>
          <a:prstGeom prst="rect">
            <a:avLst/>
          </a:prstGeom>
        </p:spPr>
        <p:txBody>
          <a:bodyPr lIns="0" tIns="0" rIns="0" bIns="0" rtlCol="0" anchor="t">
            <a:spAutoFit/>
          </a:bodyPr>
          <a:lstStyle/>
          <a:p>
            <a:pPr algn="ctr">
              <a:lnSpc>
                <a:spcPts val="10877"/>
              </a:lnSpc>
            </a:pPr>
            <a:r>
              <a:rPr lang="en-US" sz="7769" b="1">
                <a:solidFill>
                  <a:srgbClr val="000000"/>
                </a:solidFill>
                <a:latin typeface="Canva Sans Bold"/>
                <a:ea typeface="Canva Sans Bold"/>
                <a:cs typeface="Canva Sans Bold"/>
                <a:sym typeface="Canva Sans Bold"/>
              </a:rPr>
              <a:t>Guide Name:</a:t>
            </a:r>
          </a:p>
        </p:txBody>
      </p:sp>
      <p:sp>
        <p:nvSpPr>
          <p:cNvPr id="6" name="TextBox 6"/>
          <p:cNvSpPr txBox="1"/>
          <p:nvPr/>
        </p:nvSpPr>
        <p:spPr>
          <a:xfrm>
            <a:off x="10648605" y="3901482"/>
            <a:ext cx="7291006"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Mrs. E. Thamizharasi</a:t>
            </a:r>
          </a:p>
        </p:txBody>
      </p:sp>
      <p:sp>
        <p:nvSpPr>
          <p:cNvPr id="7" name="TextBox 7"/>
          <p:cNvSpPr txBox="1"/>
          <p:nvPr/>
        </p:nvSpPr>
        <p:spPr>
          <a:xfrm>
            <a:off x="1028700" y="3361558"/>
            <a:ext cx="6118146" cy="4679061"/>
          </a:xfrm>
          <a:prstGeom prst="rect">
            <a:avLst/>
          </a:prstGeom>
        </p:spPr>
        <p:txBody>
          <a:bodyPr lIns="0" tIns="0" rIns="0" bIns="0" rtlCol="0" anchor="t">
            <a:spAutoFit/>
          </a:bodyPr>
          <a:lstStyle/>
          <a:p>
            <a:pPr marL="1437894" lvl="1" indent="-718947" algn="l">
              <a:lnSpc>
                <a:spcPts val="9323"/>
              </a:lnSpc>
              <a:buFont typeface="Arial"/>
              <a:buChar char="•"/>
            </a:pPr>
            <a:r>
              <a:rPr lang="en-US" sz="6659" b="1">
                <a:solidFill>
                  <a:srgbClr val="000000"/>
                </a:solidFill>
                <a:latin typeface="Canva Sans Bold"/>
                <a:ea typeface="Canva Sans Bold"/>
                <a:cs typeface="Canva Sans Bold"/>
                <a:sym typeface="Canva Sans Bold"/>
              </a:rPr>
              <a:t> Swathi </a:t>
            </a:r>
          </a:p>
          <a:p>
            <a:pPr marL="1437894" lvl="1" indent="-718947" algn="l">
              <a:lnSpc>
                <a:spcPts val="9323"/>
              </a:lnSpc>
              <a:buFont typeface="Arial"/>
              <a:buChar char="•"/>
            </a:pPr>
            <a:r>
              <a:rPr lang="en-US" sz="6659" b="1">
                <a:solidFill>
                  <a:srgbClr val="000000"/>
                </a:solidFill>
                <a:latin typeface="Canva Sans Bold"/>
                <a:ea typeface="Canva Sans Bold"/>
                <a:cs typeface="Canva Sans Bold"/>
                <a:sym typeface="Canva Sans Bold"/>
              </a:rPr>
              <a:t>Jayasri</a:t>
            </a:r>
          </a:p>
          <a:p>
            <a:pPr marL="1437894" lvl="1" indent="-718947" algn="l">
              <a:lnSpc>
                <a:spcPts val="9323"/>
              </a:lnSpc>
              <a:buFont typeface="Arial"/>
              <a:buChar char="•"/>
            </a:pPr>
            <a:r>
              <a:rPr lang="en-US" sz="6659" b="1">
                <a:solidFill>
                  <a:srgbClr val="000000"/>
                </a:solidFill>
                <a:latin typeface="Canva Sans Bold"/>
                <a:ea typeface="Canva Sans Bold"/>
                <a:cs typeface="Canva Sans Bold"/>
                <a:sym typeface="Canva Sans Bold"/>
              </a:rPr>
              <a:t> Keerthana </a:t>
            </a:r>
          </a:p>
          <a:p>
            <a:pPr marL="1437894" lvl="1" indent="-718947" algn="l">
              <a:lnSpc>
                <a:spcPts val="9323"/>
              </a:lnSpc>
              <a:buFont typeface="Arial"/>
              <a:buChar char="•"/>
            </a:pPr>
            <a:r>
              <a:rPr lang="en-US" sz="6659" b="1">
                <a:solidFill>
                  <a:srgbClr val="000000"/>
                </a:solidFill>
                <a:latin typeface="Canva Sans Bold"/>
                <a:ea typeface="Canva Sans Bold"/>
                <a:cs typeface="Canva Sans Bold"/>
                <a:sym typeface="Canva Sans Bold"/>
              </a:rPr>
              <a:t>Arthi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Freeform 5"/>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4906151" y="543618"/>
            <a:ext cx="8063389" cy="1135761"/>
          </a:xfrm>
          <a:prstGeom prst="rect">
            <a:avLst/>
          </a:prstGeom>
        </p:spPr>
        <p:txBody>
          <a:bodyPr lIns="0" tIns="0" rIns="0" bIns="0" rtlCol="0" anchor="t">
            <a:spAutoFit/>
          </a:bodyPr>
          <a:lstStyle/>
          <a:p>
            <a:pPr algn="ctr">
              <a:lnSpc>
                <a:spcPts val="9323"/>
              </a:lnSpc>
              <a:spcBef>
                <a:spcPct val="0"/>
              </a:spcBef>
            </a:pPr>
            <a:r>
              <a:rPr lang="en-US" sz="6659" b="1">
                <a:solidFill>
                  <a:srgbClr val="000000"/>
                </a:solidFill>
                <a:latin typeface="Canva Sans Bold"/>
                <a:ea typeface="Canva Sans Bold"/>
                <a:cs typeface="Canva Sans Bold"/>
                <a:sym typeface="Canva Sans Bold"/>
              </a:rPr>
              <a:t>Problem Statement</a:t>
            </a:r>
          </a:p>
        </p:txBody>
      </p:sp>
      <p:sp>
        <p:nvSpPr>
          <p:cNvPr id="7" name="TextBox 7"/>
          <p:cNvSpPr txBox="1"/>
          <p:nvPr/>
        </p:nvSpPr>
        <p:spPr>
          <a:xfrm>
            <a:off x="1317317" y="3241077"/>
            <a:ext cx="16230600" cy="5126990"/>
          </a:xfrm>
          <a:prstGeom prst="rect">
            <a:avLst/>
          </a:prstGeom>
        </p:spPr>
        <p:txBody>
          <a:bodyPr lIns="0" tIns="0" rIns="0" bIns="0" rtlCol="0" anchor="t">
            <a:spAutoFit/>
          </a:bodyPr>
          <a:lstStyle/>
          <a:p>
            <a:pPr algn="just">
              <a:lnSpc>
                <a:spcPts val="4060"/>
              </a:lnSpc>
            </a:pPr>
            <a:r>
              <a:rPr lang="en-US" sz="2900">
                <a:solidFill>
                  <a:srgbClr val="000000"/>
                </a:solidFill>
                <a:latin typeface="Canva Sans"/>
                <a:ea typeface="Canva Sans"/>
                <a:cs typeface="Canva Sans"/>
                <a:sym typeface="Canva Sans"/>
              </a:rPr>
              <a:t> "In today's digital world, people leave behind a rich trail of conversations, thoughts, and memories across messages, social media, journals, and emails. However, once a person is gone or becomes unreachable, their perspective, voice, and wisdom are lost. Despite advances in artificial intelligence, there is no meaningful way to preserve and simulate a person’s communication style, personality, and life experience in a private, secure, and accessible way. GhostNet addresses this gap by creating an AI-powered ‘memory twin’ that can learn from a person's digital footprint and mimic their tone, style, and knowledge to continue conversations, recall past thoughts, and offer guidance. This application runs entirely on a personal device or browser, requiring no specialized hardware, ensuring it is accessible, private, and emotionally impactful."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6200714" y="178092"/>
            <a:ext cx="4773335" cy="1566544"/>
          </a:xfrm>
          <a:prstGeom prst="rect">
            <a:avLst/>
          </a:prstGeom>
        </p:spPr>
        <p:txBody>
          <a:bodyPr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Domain</a:t>
            </a:r>
          </a:p>
        </p:txBody>
      </p:sp>
      <p:sp>
        <p:nvSpPr>
          <p:cNvPr id="6" name="TextBox 6"/>
          <p:cNvSpPr txBox="1"/>
          <p:nvPr/>
        </p:nvSpPr>
        <p:spPr>
          <a:xfrm>
            <a:off x="3016870" y="3064935"/>
            <a:ext cx="12542877" cy="5506720"/>
          </a:xfrm>
          <a:prstGeom prst="rect">
            <a:avLst/>
          </a:prstGeom>
        </p:spPr>
        <p:txBody>
          <a:bodyPr lIns="0" tIns="0" rIns="0" bIns="0" rtlCol="0" anchor="t">
            <a:spAutoFit/>
          </a:bodyPr>
          <a:lstStyle/>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Artificial Intelligence (AI) </a:t>
            </a:r>
          </a:p>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Machine Learning (ML) </a:t>
            </a:r>
          </a:p>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Natural Language Processing (NLP) </a:t>
            </a:r>
          </a:p>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Digital Twin Technology</a:t>
            </a:r>
          </a:p>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 Privacy-Preserving Computing</a:t>
            </a:r>
          </a:p>
          <a:p>
            <a:pPr marL="1122679" lvl="1" indent="-561340" algn="l">
              <a:lnSpc>
                <a:spcPts val="7279"/>
              </a:lnSpc>
              <a:buFont typeface="Arial"/>
              <a:buChar char="•"/>
            </a:pPr>
            <a:r>
              <a:rPr lang="en-US" sz="5199" b="1">
                <a:solidFill>
                  <a:srgbClr val="000000"/>
                </a:solidFill>
                <a:latin typeface="Canva Sans Bold"/>
                <a:ea typeface="Canva Sans Bold"/>
                <a:cs typeface="Canva Sans Bold"/>
                <a:sym typeface="Canva Sans Bold"/>
              </a:rPr>
              <a:t> Human-Computer Interaction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886342" y="699083"/>
            <a:ext cx="9587917" cy="9587917"/>
          </a:xfrm>
          <a:custGeom>
            <a:avLst/>
            <a:gdLst/>
            <a:ahLst/>
            <a:cxnLst/>
            <a:rect l="l" t="t" r="r" b="b"/>
            <a:pathLst>
              <a:path w="9587917" h="9587917">
                <a:moveTo>
                  <a:pt x="0" y="0"/>
                </a:moveTo>
                <a:lnTo>
                  <a:pt x="9587917" y="0"/>
                </a:lnTo>
                <a:lnTo>
                  <a:pt x="9587917" y="9587917"/>
                </a:lnTo>
                <a:lnTo>
                  <a:pt x="0" y="9587917"/>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6255671" y="1257691"/>
            <a:ext cx="5240655" cy="1566544"/>
          </a:xfrm>
          <a:prstGeom prst="rect">
            <a:avLst/>
          </a:prstGeom>
        </p:spPr>
        <p:txBody>
          <a:bodyPr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Abstract</a:t>
            </a:r>
          </a:p>
        </p:txBody>
      </p:sp>
      <p:sp>
        <p:nvSpPr>
          <p:cNvPr id="6" name="TextBox 6"/>
          <p:cNvSpPr txBox="1"/>
          <p:nvPr/>
        </p:nvSpPr>
        <p:spPr>
          <a:xfrm>
            <a:off x="1028700" y="3741648"/>
            <a:ext cx="16230600" cy="3869810"/>
          </a:xfrm>
          <a:prstGeom prst="rect">
            <a:avLst/>
          </a:prstGeom>
        </p:spPr>
        <p:txBody>
          <a:bodyPr lIns="0" tIns="0" rIns="0" bIns="0" rtlCol="0" anchor="t">
            <a:spAutoFit/>
          </a:bodyPr>
          <a:lstStyle/>
          <a:p>
            <a:pPr algn="just">
              <a:lnSpc>
                <a:spcPts val="5103"/>
              </a:lnSpc>
            </a:pPr>
            <a:r>
              <a:rPr lang="en-US" sz="3645">
                <a:solidFill>
                  <a:srgbClr val="000000"/>
                </a:solidFill>
                <a:latin typeface="Canva Sans"/>
                <a:ea typeface="Canva Sans"/>
                <a:cs typeface="Canva Sans"/>
                <a:sym typeface="Canva Sans"/>
              </a:rPr>
              <a:t> GhostNet is an AI project that creates a digital twin of a person using their digital footprints like messages, emails, voice notes, and posts. This twin behaves like the real person — it can reply, share memories, and show emotions. It helps in emotional support, memory preservation, and virtual legacy after the person is no longer around. The system also protects user privacy and ensures secure use of sensitive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2596890" y="3889589"/>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571077" y="-454462"/>
            <a:ext cx="9587917" cy="9587917"/>
          </a:xfrm>
          <a:custGeom>
            <a:avLst/>
            <a:gdLst/>
            <a:ahLst/>
            <a:cxnLst/>
            <a:rect l="l" t="t" r="r" b="b"/>
            <a:pathLst>
              <a:path w="9587917" h="9587917">
                <a:moveTo>
                  <a:pt x="0" y="0"/>
                </a:moveTo>
                <a:lnTo>
                  <a:pt x="9587917" y="0"/>
                </a:lnTo>
                <a:lnTo>
                  <a:pt x="9587917"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813835" y="178092"/>
            <a:ext cx="6412945" cy="1566544"/>
          </a:xfrm>
          <a:prstGeom prst="rect">
            <a:avLst/>
          </a:prstGeom>
        </p:spPr>
        <p:txBody>
          <a:bodyPr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Objectives</a:t>
            </a:r>
          </a:p>
        </p:txBody>
      </p:sp>
      <p:sp>
        <p:nvSpPr>
          <p:cNvPr id="6" name="TextBox 6"/>
          <p:cNvSpPr txBox="1"/>
          <p:nvPr/>
        </p:nvSpPr>
        <p:spPr>
          <a:xfrm>
            <a:off x="1085267" y="3239911"/>
            <a:ext cx="16117465" cy="3730979"/>
          </a:xfrm>
          <a:prstGeom prst="rect">
            <a:avLst/>
          </a:prstGeom>
        </p:spPr>
        <p:txBody>
          <a:bodyPr lIns="0" tIns="0" rIns="0" bIns="0" rtlCol="0" anchor="t">
            <a:spAutoFit/>
          </a:bodyPr>
          <a:lstStyle/>
          <a:p>
            <a:pPr marL="914567" lvl="1" indent="-457283" algn="l">
              <a:lnSpc>
                <a:spcPts val="5930"/>
              </a:lnSpc>
              <a:buFont typeface="Arial"/>
              <a:buChar char="•"/>
            </a:pPr>
            <a:r>
              <a:rPr lang="en-US" sz="4236" b="1">
                <a:solidFill>
                  <a:srgbClr val="000000"/>
                </a:solidFill>
                <a:latin typeface="Canva Sans Bold"/>
                <a:ea typeface="Canva Sans Bold"/>
                <a:cs typeface="Canva Sans Bold"/>
                <a:sym typeface="Canva Sans Bold"/>
              </a:rPr>
              <a:t>To create a digital memory twin of a person using AI </a:t>
            </a:r>
          </a:p>
          <a:p>
            <a:pPr marL="914567" lvl="1" indent="-457283" algn="l">
              <a:lnSpc>
                <a:spcPts val="5930"/>
              </a:lnSpc>
              <a:buFont typeface="Arial"/>
              <a:buChar char="•"/>
            </a:pPr>
            <a:r>
              <a:rPr lang="en-US" sz="4236" b="1">
                <a:solidFill>
                  <a:srgbClr val="000000"/>
                </a:solidFill>
                <a:latin typeface="Canva Sans Bold"/>
                <a:ea typeface="Canva Sans Bold"/>
                <a:cs typeface="Canva Sans Bold"/>
                <a:sym typeface="Canva Sans Bold"/>
              </a:rPr>
              <a:t>To simulate real-life conversation and emotional behavior </a:t>
            </a:r>
          </a:p>
          <a:p>
            <a:pPr marL="914567" lvl="1" indent="-457283" algn="l">
              <a:lnSpc>
                <a:spcPts val="5930"/>
              </a:lnSpc>
              <a:buFont typeface="Arial"/>
              <a:buChar char="•"/>
            </a:pPr>
            <a:r>
              <a:rPr lang="en-US" sz="4236" b="1">
                <a:solidFill>
                  <a:srgbClr val="000000"/>
                </a:solidFill>
                <a:latin typeface="Canva Sans Bold"/>
                <a:ea typeface="Canva Sans Bold"/>
                <a:cs typeface="Canva Sans Bold"/>
                <a:sym typeface="Canva Sans Bold"/>
              </a:rPr>
              <a:t>To allow interaction even after someone is gone To ensure user privacy and ethical data use </a:t>
            </a:r>
          </a:p>
          <a:p>
            <a:pPr marL="914567" lvl="1" indent="-457283" algn="l">
              <a:lnSpc>
                <a:spcPts val="5930"/>
              </a:lnSpc>
              <a:buFont typeface="Arial"/>
              <a:buChar char="•"/>
            </a:pPr>
            <a:r>
              <a:rPr lang="en-US" sz="4236" b="1">
                <a:solidFill>
                  <a:srgbClr val="000000"/>
                </a:solidFill>
                <a:latin typeface="Canva Sans Bold"/>
                <a:ea typeface="Canva Sans Bold"/>
                <a:cs typeface="Canva Sans Bold"/>
                <a:sym typeface="Canva Sans Bold"/>
              </a:rPr>
              <a:t>To support virtual remembrance and legacy keeping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72024" y="-185539"/>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312188" y="3372499"/>
            <a:ext cx="15663624" cy="4827650"/>
          </a:xfrm>
          <a:prstGeom prst="rect">
            <a:avLst/>
          </a:prstGeom>
        </p:spPr>
        <p:txBody>
          <a:bodyPr lIns="0" tIns="0" rIns="0" bIns="0" rtlCol="0" anchor="t">
            <a:spAutoFit/>
          </a:bodyPr>
          <a:lstStyle/>
          <a:p>
            <a:pPr algn="l">
              <a:lnSpc>
                <a:spcPts val="6384"/>
              </a:lnSpc>
              <a:spcBef>
                <a:spcPct val="0"/>
              </a:spcBef>
            </a:pPr>
            <a:r>
              <a:rPr lang="en-US" sz="4560" b="1">
                <a:solidFill>
                  <a:srgbClr val="000000"/>
                </a:solidFill>
                <a:latin typeface="Canva Sans Bold"/>
                <a:ea typeface="Canva Sans Bold"/>
                <a:cs typeface="Canva Sans Bold"/>
                <a:sym typeface="Canva Sans Bold"/>
              </a:rPr>
              <a:t>1. Collect digital data (chats, audio, social posts)</a:t>
            </a:r>
          </a:p>
          <a:p>
            <a:pPr algn="l">
              <a:lnSpc>
                <a:spcPts val="6384"/>
              </a:lnSpc>
              <a:spcBef>
                <a:spcPct val="0"/>
              </a:spcBef>
            </a:pPr>
            <a:r>
              <a:rPr lang="en-US" sz="4560" b="1">
                <a:solidFill>
                  <a:srgbClr val="000000"/>
                </a:solidFill>
                <a:latin typeface="Canva Sans Bold"/>
                <a:ea typeface="Canva Sans Bold"/>
                <a:cs typeface="Canva Sans Bold"/>
                <a:sym typeface="Canva Sans Bold"/>
              </a:rPr>
              <a:t> 2. Preprocess and clean the data </a:t>
            </a:r>
          </a:p>
          <a:p>
            <a:pPr algn="l">
              <a:lnSpc>
                <a:spcPts val="6384"/>
              </a:lnSpc>
              <a:spcBef>
                <a:spcPct val="0"/>
              </a:spcBef>
            </a:pPr>
            <a:r>
              <a:rPr lang="en-US" sz="4560" b="1">
                <a:solidFill>
                  <a:srgbClr val="000000"/>
                </a:solidFill>
                <a:latin typeface="Canva Sans Bold"/>
                <a:ea typeface="Canva Sans Bold"/>
                <a:cs typeface="Canva Sans Bold"/>
                <a:sym typeface="Canva Sans Bold"/>
              </a:rPr>
              <a:t>3. Train AI model using NLP and ML </a:t>
            </a:r>
          </a:p>
          <a:p>
            <a:pPr algn="l">
              <a:lnSpc>
                <a:spcPts val="6384"/>
              </a:lnSpc>
              <a:spcBef>
                <a:spcPct val="0"/>
              </a:spcBef>
            </a:pPr>
            <a:r>
              <a:rPr lang="en-US" sz="4560" b="1">
                <a:solidFill>
                  <a:srgbClr val="000000"/>
                </a:solidFill>
                <a:latin typeface="Canva Sans Bold"/>
                <a:ea typeface="Canva Sans Bold"/>
                <a:cs typeface="Canva Sans Bold"/>
                <a:sym typeface="Canva Sans Bold"/>
              </a:rPr>
              <a:t>4. Build the digital twin with personality traits </a:t>
            </a:r>
          </a:p>
          <a:p>
            <a:pPr algn="l">
              <a:lnSpc>
                <a:spcPts val="6384"/>
              </a:lnSpc>
              <a:spcBef>
                <a:spcPct val="0"/>
              </a:spcBef>
            </a:pPr>
            <a:r>
              <a:rPr lang="en-US" sz="4560" b="1">
                <a:solidFill>
                  <a:srgbClr val="000000"/>
                </a:solidFill>
                <a:latin typeface="Canva Sans Bold"/>
                <a:ea typeface="Canva Sans Bold"/>
                <a:cs typeface="Canva Sans Bold"/>
                <a:sym typeface="Canva Sans Bold"/>
              </a:rPr>
              <a:t>5. User interacts through a chatbot/voice system</a:t>
            </a:r>
          </a:p>
          <a:p>
            <a:pPr algn="l">
              <a:lnSpc>
                <a:spcPts val="6384"/>
              </a:lnSpc>
              <a:spcBef>
                <a:spcPct val="0"/>
              </a:spcBef>
            </a:pPr>
            <a:r>
              <a:rPr lang="en-US" sz="4560" b="1">
                <a:solidFill>
                  <a:srgbClr val="000000"/>
                </a:solidFill>
                <a:latin typeface="Canva Sans Bold"/>
                <a:ea typeface="Canva Sans Bold"/>
                <a:cs typeface="Canva Sans Bold"/>
                <a:sym typeface="Canva Sans Bold"/>
              </a:rPr>
              <a:t> 6. Responses are generated based on learned behavior </a:t>
            </a:r>
          </a:p>
        </p:txBody>
      </p:sp>
      <p:sp>
        <p:nvSpPr>
          <p:cNvPr id="6" name="TextBox 6"/>
          <p:cNvSpPr txBox="1"/>
          <p:nvPr/>
        </p:nvSpPr>
        <p:spPr>
          <a:xfrm>
            <a:off x="772024" y="857250"/>
            <a:ext cx="15663624"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WORKING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15753"/>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83236"/>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199701" y="-46381"/>
            <a:ext cx="9587917" cy="9587917"/>
          </a:xfrm>
          <a:custGeom>
            <a:avLst/>
            <a:gdLst/>
            <a:ahLst/>
            <a:cxnLst/>
            <a:rect l="l" t="t" r="r" b="b"/>
            <a:pathLst>
              <a:path w="9587917" h="9587917">
                <a:moveTo>
                  <a:pt x="0" y="0"/>
                </a:moveTo>
                <a:lnTo>
                  <a:pt x="9587917" y="0"/>
                </a:lnTo>
                <a:lnTo>
                  <a:pt x="9587917" y="9587917"/>
                </a:lnTo>
                <a:lnTo>
                  <a:pt x="0" y="9587917"/>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634847" y="857250"/>
            <a:ext cx="15018305" cy="1545295"/>
          </a:xfrm>
          <a:prstGeom prst="rect">
            <a:avLst/>
          </a:prstGeom>
        </p:spPr>
        <p:txBody>
          <a:bodyPr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Technologies &amp; Tools </a:t>
            </a:r>
          </a:p>
        </p:txBody>
      </p:sp>
      <p:sp>
        <p:nvSpPr>
          <p:cNvPr id="6" name="TextBox 6"/>
          <p:cNvSpPr txBox="1"/>
          <p:nvPr/>
        </p:nvSpPr>
        <p:spPr>
          <a:xfrm>
            <a:off x="1156542" y="3342461"/>
            <a:ext cx="15319370" cy="5161915"/>
          </a:xfrm>
          <a:prstGeom prst="rect">
            <a:avLst/>
          </a:prstGeom>
        </p:spPr>
        <p:txBody>
          <a:bodyPr lIns="0" tIns="0" rIns="0" bIns="0" rtlCol="0" anchor="t">
            <a:spAutoFit/>
          </a:bodyPr>
          <a:lstStyle/>
          <a:p>
            <a:pPr marL="1057911" lvl="1" indent="-528956" algn="l">
              <a:lnSpc>
                <a:spcPts val="6860"/>
              </a:lnSpc>
              <a:buFont typeface="Arial"/>
              <a:buChar char="•"/>
            </a:pPr>
            <a:r>
              <a:rPr lang="en-US" sz="4900" dirty="0">
                <a:solidFill>
                  <a:srgbClr val="000000"/>
                </a:solidFill>
                <a:latin typeface="Canva Sans"/>
                <a:ea typeface="Canva Sans"/>
                <a:cs typeface="Canva Sans"/>
                <a:sym typeface="Canva Sans"/>
              </a:rPr>
              <a:t> Programming: Python</a:t>
            </a:r>
          </a:p>
          <a:p>
            <a:pPr marL="1057911" lvl="1" indent="-528956" algn="l">
              <a:lnSpc>
                <a:spcPts val="6860"/>
              </a:lnSpc>
              <a:buFont typeface="Arial"/>
              <a:buChar char="•"/>
            </a:pPr>
            <a:r>
              <a:rPr lang="en-US" sz="4900" dirty="0">
                <a:solidFill>
                  <a:srgbClr val="000000"/>
                </a:solidFill>
                <a:latin typeface="Canva Sans"/>
                <a:ea typeface="Canva Sans"/>
                <a:cs typeface="Canva Sans"/>
                <a:sym typeface="Canva Sans"/>
              </a:rPr>
              <a:t> Libraries: TensorFlow, NLTK, Transformers Tools: Google </a:t>
            </a:r>
            <a:r>
              <a:rPr lang="en-US" sz="4900" dirty="0" err="1">
                <a:solidFill>
                  <a:srgbClr val="000000"/>
                </a:solidFill>
                <a:latin typeface="Canva Sans"/>
                <a:ea typeface="Canva Sans"/>
                <a:cs typeface="Canva Sans"/>
                <a:sym typeface="Canva Sans"/>
              </a:rPr>
              <a:t>Colab</a:t>
            </a:r>
            <a:r>
              <a:rPr lang="en-US" sz="4900" dirty="0">
                <a:solidFill>
                  <a:srgbClr val="000000"/>
                </a:solidFill>
                <a:latin typeface="Canva Sans"/>
                <a:ea typeface="Canva Sans"/>
                <a:cs typeface="Canva Sans"/>
                <a:sym typeface="Canva Sans"/>
              </a:rPr>
              <a:t>, </a:t>
            </a:r>
            <a:r>
              <a:rPr lang="en-US" sz="4900" dirty="0" err="1">
                <a:solidFill>
                  <a:srgbClr val="000000"/>
                </a:solidFill>
                <a:latin typeface="Canva Sans"/>
                <a:ea typeface="Canva Sans"/>
                <a:cs typeface="Canva Sans"/>
                <a:sym typeface="Canva Sans"/>
              </a:rPr>
              <a:t>Jupyter</a:t>
            </a:r>
            <a:r>
              <a:rPr lang="en-US" sz="4900" dirty="0">
                <a:solidFill>
                  <a:srgbClr val="000000"/>
                </a:solidFill>
                <a:latin typeface="Canva Sans"/>
                <a:ea typeface="Canva Sans"/>
                <a:cs typeface="Canva Sans"/>
                <a:sym typeface="Canva Sans"/>
              </a:rPr>
              <a:t> Notebook </a:t>
            </a:r>
          </a:p>
          <a:p>
            <a:pPr marL="1057911" lvl="1" indent="-528956" algn="l">
              <a:lnSpc>
                <a:spcPts val="6860"/>
              </a:lnSpc>
              <a:buFont typeface="Arial"/>
              <a:buChar char="•"/>
            </a:pPr>
            <a:r>
              <a:rPr lang="en-US" sz="4900" dirty="0">
                <a:solidFill>
                  <a:srgbClr val="000000"/>
                </a:solidFill>
                <a:latin typeface="Canva Sans"/>
                <a:ea typeface="Canva Sans"/>
                <a:cs typeface="Canva Sans"/>
                <a:sym typeface="Canva Sans"/>
              </a:rPr>
              <a:t>Models: ChatGPT (for simulation), Speech-to-Text, Text-to-Speech </a:t>
            </a:r>
          </a:p>
          <a:p>
            <a:pPr marL="1057911" lvl="1" indent="-528956" algn="l">
              <a:lnSpc>
                <a:spcPts val="6860"/>
              </a:lnSpc>
              <a:buFont typeface="Arial"/>
              <a:buChar char="•"/>
            </a:pPr>
            <a:r>
              <a:rPr lang="en-US" sz="4900" dirty="0">
                <a:solidFill>
                  <a:srgbClr val="000000"/>
                </a:solidFill>
                <a:latin typeface="Canva Sans"/>
                <a:ea typeface="Canva Sans"/>
                <a:cs typeface="Canva Sans"/>
                <a:sym typeface="Canva Sans"/>
              </a:rPr>
              <a:t>Security: Data encryption techniques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33430" y="-536924"/>
            <a:ext cx="9587917" cy="9587917"/>
          </a:xfrm>
          <a:custGeom>
            <a:avLst/>
            <a:gdLst/>
            <a:ahLst/>
            <a:cxnLst/>
            <a:rect l="l" t="t" r="r" b="b"/>
            <a:pathLst>
              <a:path w="9587917" h="9587917">
                <a:moveTo>
                  <a:pt x="0" y="0"/>
                </a:moveTo>
                <a:lnTo>
                  <a:pt x="9587917" y="0"/>
                </a:lnTo>
                <a:lnTo>
                  <a:pt x="9587917"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108390" y="159703"/>
            <a:ext cx="9700141"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Expected Output</a:t>
            </a:r>
          </a:p>
        </p:txBody>
      </p:sp>
      <p:sp>
        <p:nvSpPr>
          <p:cNvPr id="6" name="TextBox 6"/>
          <p:cNvSpPr txBox="1"/>
          <p:nvPr/>
        </p:nvSpPr>
        <p:spPr>
          <a:xfrm>
            <a:off x="2391397" y="3744915"/>
            <a:ext cx="14867903" cy="3920408"/>
          </a:xfrm>
          <a:prstGeom prst="rect">
            <a:avLst/>
          </a:prstGeom>
        </p:spPr>
        <p:txBody>
          <a:bodyPr lIns="0" tIns="0" rIns="0" bIns="0" rtlCol="0" anchor="t">
            <a:spAutoFit/>
          </a:bodyPr>
          <a:lstStyle/>
          <a:p>
            <a:pPr algn="l">
              <a:lnSpc>
                <a:spcPts val="6271"/>
              </a:lnSpc>
            </a:pPr>
            <a:r>
              <a:rPr lang="en-US" sz="4479" b="1">
                <a:solidFill>
                  <a:srgbClr val="000000"/>
                </a:solidFill>
                <a:latin typeface="Canva Sans Bold"/>
                <a:ea typeface="Canva Sans Bold"/>
                <a:cs typeface="Canva Sans Bold"/>
                <a:sym typeface="Canva Sans Bold"/>
              </a:rPr>
              <a:t>A working AI-based legacy twin chatbot It will talk, respond, and behave like the original person A private and secure interface for loved ones to interact Emotionally rich conversations Text and voice mode interaction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Freeform 5"/>
          <p:cNvSpPr/>
          <p:nvPr/>
        </p:nvSpPr>
        <p:spPr>
          <a:xfrm>
            <a:off x="5060832" y="2539291"/>
            <a:ext cx="8743570" cy="5825403"/>
          </a:xfrm>
          <a:custGeom>
            <a:avLst/>
            <a:gdLst/>
            <a:ahLst/>
            <a:cxnLst/>
            <a:rect l="l" t="t" r="r" b="b"/>
            <a:pathLst>
              <a:path w="8743570" h="5825403">
                <a:moveTo>
                  <a:pt x="0" y="0"/>
                </a:moveTo>
                <a:lnTo>
                  <a:pt x="8743570" y="0"/>
                </a:lnTo>
                <a:lnTo>
                  <a:pt x="8743570" y="5825403"/>
                </a:lnTo>
                <a:lnTo>
                  <a:pt x="0" y="5825403"/>
                </a:lnTo>
                <a:lnTo>
                  <a:pt x="0" y="0"/>
                </a:lnTo>
                <a:close/>
              </a:path>
            </a:pathLst>
          </a:custGeom>
          <a:blipFill>
            <a:blip r:embed="rId8"/>
            <a:stretch>
              <a:fillRect/>
            </a:stretch>
          </a:blipFill>
        </p:spPr>
      </p:sp>
      <p:sp>
        <p:nvSpPr>
          <p:cNvPr id="6" name="TextBox 6"/>
          <p:cNvSpPr txBox="1"/>
          <p:nvPr/>
        </p:nvSpPr>
        <p:spPr>
          <a:xfrm>
            <a:off x="6378100" y="1315513"/>
            <a:ext cx="5128100" cy="811175"/>
          </a:xfrm>
          <a:prstGeom prst="rect">
            <a:avLst/>
          </a:prstGeom>
        </p:spPr>
        <p:txBody>
          <a:bodyPr wrap="square" lIns="0" tIns="0" rIns="0" bIns="0" rtlCol="0" anchor="t">
            <a:spAutoFit/>
          </a:bodyPr>
          <a:lstStyle/>
          <a:p>
            <a:pPr algn="ctr">
              <a:lnSpc>
                <a:spcPts val="6739"/>
              </a:lnSpc>
            </a:pPr>
            <a:r>
              <a:rPr lang="en-US" sz="4813" b="1" dirty="0">
                <a:solidFill>
                  <a:srgbClr val="000000"/>
                </a:solidFill>
                <a:latin typeface="Canva Sans"/>
                <a:ea typeface="Canva Sans"/>
                <a:cs typeface="Canva Sans"/>
                <a:sym typeface="Canva Sans"/>
              </a:rPr>
              <a:t>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Freeform 5"/>
          <p:cNvSpPr/>
          <p:nvPr/>
        </p:nvSpPr>
        <p:spPr>
          <a:xfrm>
            <a:off x="3502896" y="2078034"/>
            <a:ext cx="11301259" cy="6130933"/>
          </a:xfrm>
          <a:custGeom>
            <a:avLst/>
            <a:gdLst/>
            <a:ahLst/>
            <a:cxnLst/>
            <a:rect l="l" t="t" r="r" b="b"/>
            <a:pathLst>
              <a:path w="11301259" h="6130933">
                <a:moveTo>
                  <a:pt x="0" y="0"/>
                </a:moveTo>
                <a:lnTo>
                  <a:pt x="11301258" y="0"/>
                </a:lnTo>
                <a:lnTo>
                  <a:pt x="11301258" y="6130932"/>
                </a:lnTo>
                <a:lnTo>
                  <a:pt x="0" y="6130932"/>
                </a:lnTo>
                <a:lnTo>
                  <a:pt x="0" y="0"/>
                </a:lnTo>
                <a:close/>
              </a:path>
            </a:pathLst>
          </a:custGeom>
          <a:blipFill>
            <a:blip r:embed="rId8"/>
            <a:stretch>
              <a:fillRect/>
            </a:stretch>
          </a:blipFill>
        </p:spPr>
      </p:sp>
      <p:sp>
        <p:nvSpPr>
          <p:cNvPr id="6" name="TextBox 6"/>
          <p:cNvSpPr txBox="1"/>
          <p:nvPr/>
        </p:nvSpPr>
        <p:spPr>
          <a:xfrm>
            <a:off x="7036946" y="962025"/>
            <a:ext cx="5383654" cy="615553"/>
          </a:xfrm>
          <a:prstGeom prst="rect">
            <a:avLst/>
          </a:prstGeom>
        </p:spPr>
        <p:txBody>
          <a:bodyPr wrap="square" lIns="0" tIns="0" rIns="0" bIns="0" rtlCol="0" anchor="t">
            <a:spAutoFit/>
          </a:bodyPr>
          <a:lstStyle/>
          <a:p>
            <a:pPr algn="ctr">
              <a:lnSpc>
                <a:spcPts val="4759"/>
              </a:lnSpc>
            </a:pPr>
            <a:r>
              <a:rPr lang="en-US" sz="4400" b="1" dirty="0">
                <a:solidFill>
                  <a:srgbClr val="000000"/>
                </a:solidFill>
                <a:latin typeface="Canva Sans"/>
                <a:ea typeface="Canva Sans"/>
                <a:cs typeface="Canva Sans"/>
                <a:sym typeface="Canva Sans"/>
              </a:rPr>
              <a:t>IMPLEMENTATION</a:t>
            </a:r>
            <a:r>
              <a:rPr lang="en-US" sz="3399" dirty="0">
                <a:solidFill>
                  <a:srgbClr val="000000"/>
                </a:solidFill>
                <a:latin typeface="Canva Sans"/>
                <a:ea typeface="Canva Sans"/>
                <a:cs typeface="Canva Sans"/>
                <a:sym typeface="Canva Sans"/>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Freeform 5"/>
          <p:cNvSpPr/>
          <p:nvPr/>
        </p:nvSpPr>
        <p:spPr>
          <a:xfrm>
            <a:off x="3493371" y="2113350"/>
            <a:ext cx="11301259" cy="6060300"/>
          </a:xfrm>
          <a:custGeom>
            <a:avLst/>
            <a:gdLst/>
            <a:ahLst/>
            <a:cxnLst/>
            <a:rect l="l" t="t" r="r" b="b"/>
            <a:pathLst>
              <a:path w="11301259" h="6060300">
                <a:moveTo>
                  <a:pt x="0" y="0"/>
                </a:moveTo>
                <a:lnTo>
                  <a:pt x="11301258" y="0"/>
                </a:lnTo>
                <a:lnTo>
                  <a:pt x="11301258" y="6060300"/>
                </a:lnTo>
                <a:lnTo>
                  <a:pt x="0" y="6060300"/>
                </a:lnTo>
                <a:lnTo>
                  <a:pt x="0" y="0"/>
                </a:lnTo>
                <a:close/>
              </a:path>
            </a:pathLst>
          </a:custGeom>
          <a:blipFill>
            <a:blip r:embed="rId8"/>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71364" y="2075028"/>
            <a:ext cx="10945273" cy="6136945"/>
          </a:xfrm>
          <a:custGeom>
            <a:avLst/>
            <a:gdLst/>
            <a:ahLst/>
            <a:cxnLst/>
            <a:rect l="l" t="t" r="r" b="b"/>
            <a:pathLst>
              <a:path w="10945273" h="6136945">
                <a:moveTo>
                  <a:pt x="0" y="0"/>
                </a:moveTo>
                <a:lnTo>
                  <a:pt x="10945272" y="0"/>
                </a:lnTo>
                <a:lnTo>
                  <a:pt x="10945272" y="6136944"/>
                </a:lnTo>
                <a:lnTo>
                  <a:pt x="0" y="6136944"/>
                </a:lnTo>
                <a:lnTo>
                  <a:pt x="0" y="0"/>
                </a:lnTo>
                <a:close/>
              </a:path>
            </a:pathLst>
          </a:custGeom>
          <a:blipFill>
            <a:blip r:embed="rId2"/>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356428" y="178092"/>
            <a:ext cx="7900273" cy="1566544"/>
          </a:xfrm>
          <a:prstGeom prst="rect">
            <a:avLst/>
          </a:prstGeom>
        </p:spPr>
        <p:txBody>
          <a:bodyPr lIns="0" tIns="0" rIns="0" bIns="0" rtlCol="0" anchor="t">
            <a:spAutoFit/>
          </a:bodyPr>
          <a:lstStyle/>
          <a:p>
            <a:pPr algn="ctr">
              <a:lnSpc>
                <a:spcPts val="12880"/>
              </a:lnSpc>
              <a:spcBef>
                <a:spcPct val="0"/>
              </a:spcBef>
            </a:pPr>
            <a:r>
              <a:rPr lang="en-US" sz="9200" b="1" dirty="0">
                <a:solidFill>
                  <a:srgbClr val="000000"/>
                </a:solidFill>
                <a:latin typeface="Canva Sans Bold"/>
                <a:ea typeface="Canva Sans Bold"/>
                <a:cs typeface="Canva Sans Bold"/>
                <a:sym typeface="Canva Sans Bold"/>
              </a:rPr>
              <a:t>Future Scope</a:t>
            </a:r>
          </a:p>
        </p:txBody>
      </p:sp>
      <p:sp>
        <p:nvSpPr>
          <p:cNvPr id="6" name="TextBox 6"/>
          <p:cNvSpPr txBox="1"/>
          <p:nvPr/>
        </p:nvSpPr>
        <p:spPr>
          <a:xfrm>
            <a:off x="907081" y="2791013"/>
            <a:ext cx="17380919" cy="5570842"/>
          </a:xfrm>
          <a:prstGeom prst="rect">
            <a:avLst/>
          </a:prstGeom>
        </p:spPr>
        <p:txBody>
          <a:bodyPr lIns="0" tIns="0" rIns="0" bIns="0" rtlCol="0" anchor="t">
            <a:spAutoFit/>
          </a:bodyPr>
          <a:lstStyle/>
          <a:p>
            <a:pPr marL="1144379" lvl="1" indent="-572190" algn="l">
              <a:lnSpc>
                <a:spcPts val="7420"/>
              </a:lnSpc>
              <a:buFont typeface="Arial"/>
              <a:buChar char="•"/>
            </a:pPr>
            <a:r>
              <a:rPr lang="en-US" sz="5300" b="1" dirty="0">
                <a:solidFill>
                  <a:srgbClr val="000000"/>
                </a:solidFill>
                <a:latin typeface="Canva Sans Bold"/>
                <a:ea typeface="Canva Sans Bold"/>
                <a:cs typeface="Canva Sans Bold"/>
                <a:sym typeface="Canva Sans Bold"/>
              </a:rPr>
              <a:t> Adding 3D avatars for visual interaction</a:t>
            </a:r>
          </a:p>
          <a:p>
            <a:pPr marL="1144379" lvl="1" indent="-572190" algn="l">
              <a:lnSpc>
                <a:spcPts val="7420"/>
              </a:lnSpc>
              <a:buFont typeface="Arial"/>
              <a:buChar char="•"/>
            </a:pPr>
            <a:r>
              <a:rPr lang="en-US" sz="5300" b="1" dirty="0">
                <a:solidFill>
                  <a:srgbClr val="000000"/>
                </a:solidFill>
                <a:latin typeface="Canva Sans Bold"/>
                <a:ea typeface="Canva Sans Bold"/>
                <a:cs typeface="Canva Sans Bold"/>
                <a:sym typeface="Canva Sans Bold"/>
              </a:rPr>
              <a:t> Real-time voice cloning Use in elderly care and dementia patients </a:t>
            </a:r>
          </a:p>
          <a:p>
            <a:pPr marL="1144379" lvl="1" indent="-572190" algn="l">
              <a:lnSpc>
                <a:spcPts val="7420"/>
              </a:lnSpc>
              <a:buFont typeface="Arial"/>
              <a:buChar char="•"/>
            </a:pPr>
            <a:r>
              <a:rPr lang="en-US" sz="5300" b="1" dirty="0">
                <a:solidFill>
                  <a:srgbClr val="000000"/>
                </a:solidFill>
                <a:latin typeface="Canva Sans Bold"/>
                <a:ea typeface="Canva Sans Bold"/>
                <a:cs typeface="Canva Sans Bold"/>
                <a:sym typeface="Canva Sans Bold"/>
              </a:rPr>
              <a:t>Integration with VR/AR for immersive memories</a:t>
            </a:r>
          </a:p>
          <a:p>
            <a:pPr marL="1144379" lvl="1" indent="-572190" algn="l">
              <a:lnSpc>
                <a:spcPts val="7420"/>
              </a:lnSpc>
              <a:buFont typeface="Arial"/>
              <a:buChar char="•"/>
            </a:pPr>
            <a:r>
              <a:rPr lang="en-US" sz="5300" b="1" dirty="0">
                <a:solidFill>
                  <a:srgbClr val="000000"/>
                </a:solidFill>
                <a:latin typeface="Canva Sans Bold"/>
                <a:ea typeface="Canva Sans Bold"/>
                <a:cs typeface="Canva Sans Bold"/>
                <a:sym typeface="Canva Sans Bold"/>
              </a:rPr>
              <a:t>Used in historical preservation of famous personalities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099024" y="495993"/>
            <a:ext cx="6688098" cy="1566544"/>
          </a:xfrm>
          <a:prstGeom prst="rect">
            <a:avLst/>
          </a:prstGeom>
        </p:spPr>
        <p:txBody>
          <a:bodyPr lIns="0" tIns="0" rIns="0" bIns="0" rtlCol="0" anchor="t">
            <a:spAutoFit/>
          </a:bodyPr>
          <a:lstStyle/>
          <a:p>
            <a:pPr algn="ctr">
              <a:lnSpc>
                <a:spcPts val="12880"/>
              </a:lnSpc>
              <a:spcBef>
                <a:spcPct val="0"/>
              </a:spcBef>
            </a:pPr>
            <a:r>
              <a:rPr lang="en-US" sz="9200" b="1">
                <a:solidFill>
                  <a:srgbClr val="000000"/>
                </a:solidFill>
                <a:latin typeface="Canva Sans Bold"/>
                <a:ea typeface="Canva Sans Bold"/>
                <a:cs typeface="Canva Sans Bold"/>
                <a:sym typeface="Canva Sans Bold"/>
              </a:rPr>
              <a:t>Conclusion </a:t>
            </a:r>
          </a:p>
        </p:txBody>
      </p:sp>
      <p:sp>
        <p:nvSpPr>
          <p:cNvPr id="6" name="TextBox 6"/>
          <p:cNvSpPr txBox="1"/>
          <p:nvPr/>
        </p:nvSpPr>
        <p:spPr>
          <a:xfrm>
            <a:off x="1099000" y="3210679"/>
            <a:ext cx="14838834" cy="4883140"/>
          </a:xfrm>
          <a:prstGeom prst="rect">
            <a:avLst/>
          </a:prstGeom>
        </p:spPr>
        <p:txBody>
          <a:bodyPr lIns="0" tIns="0" rIns="0" bIns="0" rtlCol="0" anchor="t">
            <a:spAutoFit/>
          </a:bodyPr>
          <a:lstStyle/>
          <a:p>
            <a:pPr algn="l">
              <a:lnSpc>
                <a:spcPts val="6475"/>
              </a:lnSpc>
              <a:spcBef>
                <a:spcPct val="0"/>
              </a:spcBef>
            </a:pPr>
            <a:r>
              <a:rPr lang="en-US" sz="4625" b="1">
                <a:solidFill>
                  <a:srgbClr val="000000"/>
                </a:solidFill>
                <a:latin typeface="Canva Sans Bold"/>
                <a:ea typeface="Canva Sans Bold"/>
                <a:cs typeface="Canva Sans Bold"/>
                <a:sym typeface="Canva Sans Bold"/>
              </a:rPr>
              <a:t>GhostNet is a step forward in using AI for emotional connection and digital remembrance. It helps preserve the identity of people and allows future generations to know them. This project shows how AI can support legacy, love, and memories, even when someone is no longer physically present.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6076652" y="4274503"/>
            <a:ext cx="6134695" cy="1566544"/>
          </a:xfrm>
          <a:prstGeom prst="rect">
            <a:avLst/>
          </a:prstGeom>
        </p:spPr>
        <p:txBody>
          <a:bodyPr lIns="0" tIns="0" rIns="0" bIns="0" rtlCol="0" anchor="t">
            <a:spAutoFit/>
          </a:bodyPr>
          <a:lstStyle/>
          <a:p>
            <a:pPr algn="ctr">
              <a:lnSpc>
                <a:spcPts val="12880"/>
              </a:lnSpc>
              <a:spcBef>
                <a:spcPct val="0"/>
              </a:spcBef>
            </a:pPr>
            <a:r>
              <a:rPr lang="en-US" sz="9200" b="1">
                <a:solidFill>
                  <a:srgbClr val="000000"/>
                </a:solidFill>
                <a:latin typeface="Canva Sans Bold"/>
                <a:ea typeface="Canva Sans Bold"/>
                <a:cs typeface="Canva Sans Bold"/>
                <a:sym typeface="Canva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565</Words>
  <Application>Microsoft Office PowerPoint</Application>
  <PresentationFormat>Custom</PresentationFormat>
  <Paragraphs>50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Canva Sans Bold</vt:lpstr>
      <vt:lpstr>Canva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Project Title</dc:title>
  <dc:creator>keerthana k</dc:creator>
  <cp:lastModifiedBy>keerthana k</cp:lastModifiedBy>
  <cp:revision>2</cp:revision>
  <dcterms:created xsi:type="dcterms:W3CDTF">2006-08-16T00:00:00Z</dcterms:created>
  <dcterms:modified xsi:type="dcterms:W3CDTF">2025-10-26T17:33:10Z</dcterms:modified>
  <dc:identifier>DAG1v9iZSIo</dc:identifier>
</cp:coreProperties>
</file>